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C6C3"/>
          </a:solidFill>
          <a:ln w="12700">
            <a:solidFill>
              <a:srgbClr val="65C6C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005840"/>
            <a:ext cx="6675120" cy="6675120"/>
          </a:xfrm>
          <a:prstGeom prst="ellipse">
            <a:avLst/>
          </a:prstGeom>
          <a:solidFill>
            <a:srgbClr val="172E4E"/>
          </a:solidFill>
          <a:ln w="12700">
            <a:solidFill>
              <a:srgbClr val="172E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7432"/>
            <a:ext cx="4754880" cy="4754880"/>
          </a:xfrm>
          <a:prstGeom prst="ellipse">
            <a:avLst/>
          </a:prstGeom>
          <a:solidFill>
            <a:srgbClr val="FFFFFF">
              <a:alpha val="0"/>
            </a:srgbClr>
          </a:solidFill>
          <a:ln w="21590">
            <a:solidFill>
              <a:srgbClr val="65C6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4232" y="512064"/>
            <a:ext cx="3794760" cy="379476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147F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1847088"/>
            <a:ext cx="2468880" cy="2130552"/>
          </a:xfrm>
          <a:prstGeom prst="roundRect">
            <a:avLst>
              <a:gd name="adj" fmla="val 6438"/>
            </a:avLst>
          </a:prstGeom>
          <a:solidFill>
            <a:srgbClr val="172E4E"/>
          </a:solidFill>
          <a:ln w="8890">
            <a:solidFill>
              <a:srgbClr val="65C6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26296" y="2651760"/>
            <a:ext cx="731520" cy="-420624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57816" y="2231136"/>
            <a:ext cx="749808" cy="420624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90304" y="2651760"/>
            <a:ext cx="1353312" cy="822960"/>
          </a:xfrm>
          <a:prstGeom prst="roundRect">
            <a:avLst>
              <a:gd name="adj" fmla="val 2222"/>
            </a:avLst>
          </a:prstGeom>
          <a:solidFill>
            <a:srgbClr val="172E4E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27464" y="2944368"/>
            <a:ext cx="283464" cy="475488"/>
          </a:xfrm>
          <a:prstGeom prst="roundRect">
            <a:avLst>
              <a:gd name="adj" fmla="val 6452"/>
            </a:avLst>
          </a:prstGeom>
          <a:solidFill>
            <a:srgbClr val="172E4E"/>
          </a:solidFill>
          <a:ln w="8890">
            <a:solidFill>
              <a:srgbClr val="65C6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11512" y="2944368"/>
            <a:ext cx="283464" cy="475488"/>
          </a:xfrm>
          <a:prstGeom prst="roundRect">
            <a:avLst>
              <a:gd name="adj" fmla="val 6452"/>
            </a:avLst>
          </a:prstGeom>
          <a:solidFill>
            <a:srgbClr val="172E4E"/>
          </a:solidFill>
          <a:ln w="8890">
            <a:solidFill>
              <a:srgbClr val="65C6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95560" y="2944368"/>
            <a:ext cx="283464" cy="475488"/>
          </a:xfrm>
          <a:prstGeom prst="roundRect">
            <a:avLst>
              <a:gd name="adj" fmla="val 6452"/>
            </a:avLst>
          </a:prstGeom>
          <a:solidFill>
            <a:srgbClr val="172E4E"/>
          </a:solidFill>
          <a:ln w="8890">
            <a:solidFill>
              <a:srgbClr val="65C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67665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BETA ALPHA PSI  /  2026 CASE COMPETITION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58368" y="1325880"/>
            <a:ext cx="79552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FY2026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AUDIT RISK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ASSESSMENT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685800" y="4142232"/>
            <a:ext cx="960120" cy="66751"/>
          </a:xfrm>
          <a:prstGeom prst="rect">
            <a:avLst/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35254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Cascade Warehouse Club, Inc.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" y="4864608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Risk-based audit planning for a fictional membership retailer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806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Adnan Ahmed   •   Dorji Damdul   •   Isaac Hernandez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20877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Washington State University  |  October 10,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6035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RISK  /  EVIDENCE  /  RESPONSE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CASE CONTEXT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company &amp; our assignment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audit-planning exercise, not a completed financial statement audit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1572768"/>
            <a:ext cx="2706624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58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8368" y="204825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364992" y="1572768"/>
            <a:ext cx="2706624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$9.592B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529584" y="204825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236208" y="1572768"/>
            <a:ext cx="2706624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35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400800" y="204825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conversions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9107424" y="1572768"/>
            <a:ext cx="2706624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2016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$336M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272016" y="204825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income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93776" y="2624328"/>
            <a:ext cx="6922008" cy="3438144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28346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CHANGED IN FY2026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04672" y="3218688"/>
            <a:ext cx="384048" cy="329184"/>
          </a:xfrm>
          <a:prstGeom prst="roundRect">
            <a:avLst>
              <a:gd name="adj" fmla="val 22222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278124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35024" y="3191256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inventory and ERP system went live in 35 warehouses.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4672" y="3867912"/>
            <a:ext cx="384048" cy="329184"/>
          </a:xfrm>
          <a:prstGeom prst="roundRect">
            <a:avLst>
              <a:gd name="adj" fmla="val 22222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3927348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35024" y="384048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calendar-year volume rebate agreement was signed with Summit Foods.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4672" y="4517136"/>
            <a:ext cx="384048" cy="329184"/>
          </a:xfrm>
          <a:prstGeom prst="roundRect">
            <a:avLst>
              <a:gd name="adj" fmla="val 22222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576572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35024" y="448970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Card breakage assumptions increased from 5% to 8%.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04672" y="5166360"/>
            <a:ext cx="384048" cy="329184"/>
          </a:xfrm>
          <a:prstGeom prst="roundRect">
            <a:avLst>
              <a:gd name="adj" fmla="val 22222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" y="5225796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35024" y="5138928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warehouses opened while the finance function experienced turnover.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589520" y="2624328"/>
            <a:ext cx="4096512" cy="3438144"/>
          </a:xfrm>
          <a:prstGeom prst="roundRect">
            <a:avLst>
              <a:gd name="adj" fmla="val 3457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2916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AUDIT PARTNER’S QUESTION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7909560" y="3456432"/>
            <a:ext cx="3383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“Where are the statements most likely to be wrong, and how should we spend our time finding out?”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909560" y="5248656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 top 3 risks, estimated exposure, targeted procedures, a control test and a lower-focus area.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EXECUTIVE ASSESSMENT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Three risks. One earnings-quality question.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by financial exposure, estimation uncertainty and internal-control evidence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112014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54480"/>
            <a:ext cx="91440" cy="1188720"/>
          </a:xfrm>
          <a:prstGeom prst="rect">
            <a:avLst/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755648"/>
            <a:ext cx="621792" cy="475488"/>
          </a:xfrm>
          <a:prstGeom prst="roundRect">
            <a:avLst>
              <a:gd name="adj" fmla="val 19231"/>
            </a:avLst>
          </a:prstGeom>
          <a:solidFill>
            <a:srgbClr val="FFF0E1"/>
          </a:solidFill>
          <a:ln w="8890">
            <a:solidFill>
              <a:srgbClr val="FFF0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84708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9B5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72768" y="1682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F39B5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SUPPLIER REBATE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572768" y="1965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5% tier may be unsupported</a:t>
            </a:r>
            <a:endParaRPr lang="en-US" sz="1830" dirty="0"/>
          </a:p>
        </p:txBody>
      </p:sp>
      <p:sp>
        <p:nvSpPr>
          <p:cNvPr id="16" name="Text 14"/>
          <p:cNvSpPr/>
          <p:nvPr/>
        </p:nvSpPr>
        <p:spPr>
          <a:xfrm>
            <a:off x="1581912" y="2386584"/>
            <a:ext cx="6784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forecast below $650M threshold; rebate charged entirely to COGS.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522208" y="1737360"/>
            <a:ext cx="22860" cy="795528"/>
          </a:xfrm>
          <a:prstGeom prst="rect">
            <a:avLst/>
          </a:prstGeom>
          <a:solidFill>
            <a:srgbClr val="DCE5ED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892808"/>
            <a:ext cx="2587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$13.2M receivable / up to $15.4M income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2944368"/>
            <a:ext cx="112014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44368"/>
            <a:ext cx="91440" cy="118872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145536"/>
            <a:ext cx="621792" cy="475488"/>
          </a:xfrm>
          <a:prstGeom prst="roundRect">
            <a:avLst>
              <a:gd name="adj" fmla="val 19231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23697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72768" y="3072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INVENTORY &amp; ERP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1572768" y="33558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Shrink and records may be misstated</a:t>
            </a:r>
            <a:endParaRPr lang="en-US" sz="1830" dirty="0"/>
          </a:p>
        </p:txBody>
      </p:sp>
      <p:sp>
        <p:nvSpPr>
          <p:cNvPr id="25" name="Text 23"/>
          <p:cNvSpPr/>
          <p:nvPr/>
        </p:nvSpPr>
        <p:spPr>
          <a:xfrm>
            <a:off x="1581912" y="3776472"/>
            <a:ext cx="6784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system, incomplete cycle-count coverage, manual receipts and broad access.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8522208" y="3127248"/>
            <a:ext cx="22860" cy="795528"/>
          </a:xfrm>
          <a:prstGeom prst="rect">
            <a:avLst/>
          </a:prstGeom>
          <a:solidFill>
            <a:srgbClr val="DCE5ED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3282696"/>
            <a:ext cx="2587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~$4.0M–$5.5M additional shrink scenario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4334256"/>
            <a:ext cx="112014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334256"/>
            <a:ext cx="91440" cy="1188720"/>
          </a:xfrm>
          <a:prstGeom prst="rect">
            <a:avLst/>
          </a:prstGeom>
          <a:solidFill>
            <a:srgbClr val="BF574E"/>
          </a:solidFill>
          <a:ln w="12700">
            <a:solidFill>
              <a:srgbClr val="BF57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535424"/>
            <a:ext cx="621792" cy="475488"/>
          </a:xfrm>
          <a:prstGeom prst="roundRect">
            <a:avLst>
              <a:gd name="adj" fmla="val 19231"/>
            </a:avLst>
          </a:prstGeom>
          <a:solidFill>
            <a:srgbClr val="FCEEEB"/>
          </a:solidFill>
          <a:ln w="8890">
            <a:solidFill>
              <a:srgbClr val="FCEE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462686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F57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572768" y="44622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BF57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CASH CARD BREAKAGE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572768" y="47457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Lifetime breakage estimate may be high</a:t>
            </a:r>
            <a:endParaRPr lang="en-US" sz="1830" dirty="0"/>
          </a:p>
        </p:txBody>
      </p:sp>
      <p:sp>
        <p:nvSpPr>
          <p:cNvPr id="34" name="Text 32"/>
          <p:cNvSpPr/>
          <p:nvPr/>
        </p:nvSpPr>
        <p:spPr>
          <a:xfrm>
            <a:off x="1581912" y="5166360"/>
            <a:ext cx="6784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 estimate conflicts with mature redemption history; no independent review.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8522208" y="4517136"/>
            <a:ext cx="22860" cy="795528"/>
          </a:xfrm>
          <a:prstGeom prst="rect">
            <a:avLst/>
          </a:prstGeom>
          <a:solidFill>
            <a:srgbClr val="DCE5ED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23960" y="4672584"/>
            <a:ext cx="2587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$6.4M one-time Q4 revenue adjustment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2920" y="5824728"/>
            <a:ext cx="11192256" cy="429768"/>
          </a:xfrm>
          <a:prstGeom prst="roundRect">
            <a:avLst>
              <a:gd name="adj" fmla="val 21277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8887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Management incentive: $336M reported operating income vs. $330M executive bonus trigger.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MATERIALITY &amp; INCENTIVES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small changes matter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significance of an error depends on size, aggregation and its effect on decisions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1527048"/>
            <a:ext cx="3694176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1848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$16.0M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8368" y="2002536"/>
            <a:ext cx="3364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materiality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334256" y="1527048"/>
            <a:ext cx="3694176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61848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$12.0M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498848" y="2002536"/>
            <a:ext cx="3364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materiality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74736" y="1527048"/>
            <a:ext cx="3694176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61848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$0.8M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339328" y="2002536"/>
            <a:ext cx="3364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clearly trivial threshold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93776" y="2642616"/>
            <a:ext cx="6821424" cy="3410712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284378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EARNINGS SENSITIVITY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49808" y="33101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operating income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13832" y="32826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$336.0M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9808" y="3694176"/>
            <a:ext cx="6245352" cy="0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886200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Less: one-time Cash Card breakage uplift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391363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F57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−$6.4M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49808" y="4379976"/>
            <a:ext cx="6245352" cy="0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590288"/>
            <a:ext cx="6300216" cy="676656"/>
          </a:xfrm>
          <a:prstGeom prst="roundRect">
            <a:avLst>
              <a:gd name="adj" fmla="val 9459"/>
            </a:avLst>
          </a:prstGeom>
          <a:solidFill>
            <a:srgbClr val="FCEEEB"/>
          </a:solidFill>
          <a:ln w="8890">
            <a:solidFill>
              <a:srgbClr val="FCEE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47914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Illustrative income after full reversal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4960" y="4745736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57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$329.6M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7240" y="558698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scenario only: the $6.4M adjustment is not proven incorrect.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7507224" y="2642616"/>
            <a:ext cx="4178808" cy="3410712"/>
          </a:xfrm>
          <a:prstGeom prst="roundRect">
            <a:avLst>
              <a:gd name="adj" fmla="val 3485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1544" y="288950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AUDIT SIGNIFICANCE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781544" y="3374136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$330M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781544" y="4014216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bonus trigger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81544" y="4498848"/>
            <a:ext cx="3483864" cy="0"/>
          </a:xfrm>
          <a:prstGeom prst="line">
            <a:avLst/>
          </a:prstGeom>
          <a:noFill/>
          <a:ln w="11430">
            <a:solidFill>
              <a:srgbClr val="4360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81544" y="4727448"/>
            <a:ext cx="3392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and CFO each earn a bonus equal to 50% of salary at or above the threshold.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81544" y="549554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Creates a fraud risk factor — not proof of fraud.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PRIORITY AUDIT RISK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Risk 01  |  Supplier rebate recognition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Receivable valuation  ·  inventory valuation  ·  COGS accuracy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1499616"/>
            <a:ext cx="7086600" cy="2130552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72821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REBATE ELIGIBILITY &amp; FORECAST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58952" y="21396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tier requires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99232" y="199339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$650M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8952" y="263347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calendar-year spend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9784" y="247802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9B5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$644M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58952" y="3136392"/>
            <a:ext cx="6510528" cy="146304"/>
          </a:xfrm>
          <a:prstGeom prst="roundRect">
            <a:avLst>
              <a:gd name="adj" fmla="val 25000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3136392"/>
            <a:ext cx="6450431" cy="146304"/>
          </a:xfrm>
          <a:prstGeom prst="roundRect">
            <a:avLst>
              <a:gd name="adj" fmla="val 25000"/>
            </a:avLst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374136"/>
            <a:ext cx="6510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$440M through Aug  +  ($55M × 4)  −  ($8M × 2)  =  $644M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7754112" y="1499616"/>
            <a:ext cx="3931920" cy="2130552"/>
          </a:xfrm>
          <a:prstGeom prst="roundRect">
            <a:avLst>
              <a:gd name="adj" fmla="val 5579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1746504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POTENTIAL EXPOSURE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028432" y="20848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$13.2M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028432" y="2532888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receivable overstatement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028432" y="2880360"/>
            <a:ext cx="3273552" cy="0"/>
          </a:xfrm>
          <a:prstGeom prst="line">
            <a:avLst/>
          </a:prstGeom>
          <a:noFill/>
          <a:ln w="11430">
            <a:solidFill>
              <a:srgbClr val="4B64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302666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$15.4M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994392" y="310896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impact*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" y="3794760"/>
            <a:ext cx="7086600" cy="213969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233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IF ONLY THE 2% TIER IS SUPPORTED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rebate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4389120" y="438912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× $440M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5352" y="438912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$22.0M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4745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tier, conditional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4389120" y="474573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 × $440M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45352" y="474573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$8.8M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102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 rebate receivable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4389120" y="510235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$22.0M − $8.8M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45352" y="510235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$13.2M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4944" y="5431536"/>
            <a:ext cx="6665976" cy="356616"/>
          </a:xfrm>
          <a:prstGeom prst="roundRect">
            <a:avLst>
              <a:gd name="adj" fmla="val 7692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458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E636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COGS understated → income overstated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4389120" y="545896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$22.0M − (75% × $8.8M)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45352" y="54589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$15.4M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54112" y="3794760"/>
            <a:ext cx="3931920" cy="213969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19288" y="4023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AUDIT RESPONSE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028432" y="4526280"/>
            <a:ext cx="59436" cy="59436"/>
          </a:xfrm>
          <a:prstGeom prst="ellipse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4736" y="4379976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terms and purchases with Summit.</a:t>
            </a:r>
            <a:endParaRPr lang="en-US" sz="1210" dirty="0"/>
          </a:p>
        </p:txBody>
      </p:sp>
      <p:sp>
        <p:nvSpPr>
          <p:cNvPr id="45" name="Shape 43"/>
          <p:cNvSpPr/>
          <p:nvPr/>
        </p:nvSpPr>
        <p:spPr>
          <a:xfrm>
            <a:off x="8028432" y="5001768"/>
            <a:ext cx="59436" cy="59436"/>
          </a:xfrm>
          <a:prstGeom prst="ellipse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74736" y="485546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forecasts and holiday assumptions.</a:t>
            </a:r>
            <a:endParaRPr lang="en-US" sz="1210" dirty="0"/>
          </a:p>
        </p:txBody>
      </p:sp>
      <p:sp>
        <p:nvSpPr>
          <p:cNvPr id="47" name="Shape 45"/>
          <p:cNvSpPr/>
          <p:nvPr/>
        </p:nvSpPr>
        <p:spPr>
          <a:xfrm>
            <a:off x="8028432" y="5504688"/>
            <a:ext cx="59436" cy="59436"/>
          </a:xfrm>
          <a:prstGeom prst="ellipse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74736" y="5358384"/>
            <a:ext cx="3246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 rebate; allocate to COGS / inventory.</a:t>
            </a:r>
            <a:endParaRPr lang="en-US" sz="1210" dirty="0"/>
          </a:p>
        </p:txBody>
      </p:sp>
      <p:sp>
        <p:nvSpPr>
          <p:cNvPr id="49" name="Text 47"/>
          <p:cNvSpPr/>
          <p:nvPr/>
        </p:nvSpPr>
        <p:spPr>
          <a:xfrm>
            <a:off x="539496" y="608076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*Conditional scenario; at the 5% tier, $5.5M may still belong in inventory.  $15.4M exceeds $12M performance materiality.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PRIORITY AUDIT RISK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Risk 02  |  Inventory &amp; ERP conversion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existence / valuation  ·  COGS completeness / accuracy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1517904"/>
            <a:ext cx="11192256" cy="429768"/>
          </a:xfrm>
          <a:prstGeom prst="roundRect">
            <a:avLst>
              <a:gd name="adj" fmla="val 21277"/>
            </a:avLst>
          </a:prstGeom>
          <a:solidFill>
            <a:srgbClr val="FFF0E1"/>
          </a:solidFill>
          <a:ln w="8890">
            <a:solidFill>
              <a:srgbClr val="FFF0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5819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Management booked shrink at 0.20% of sales; independent indicators suggest higher loss rates.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93776" y="2112264"/>
            <a:ext cx="7580376" cy="315468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331720"/>
            <a:ext cx="6684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GROUP-SPECIFIC SHRINK ESTIMATE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68096" y="26883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6667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Warehouse group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38144" y="2688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6667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Sales 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6883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6667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Rate gap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28816" y="268833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6667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Exposure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" y="2971800"/>
            <a:ext cx="7050024" cy="0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154680"/>
            <a:ext cx="2514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old-system warehouses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38144" y="3154680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$3,640M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3154680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0.03%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28816" y="3154680"/>
            <a:ext cx="1133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$1.09M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" y="3639312"/>
            <a:ext cx="7050024" cy="0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8221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new-system sites¹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38144" y="3822192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$2,950M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47488" y="3822192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0.10–0.15%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6528816" y="38221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$2.95–4.43M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704088" y="4471416"/>
            <a:ext cx="7141464" cy="594360"/>
          </a:xfrm>
          <a:prstGeom prst="roundRect">
            <a:avLst>
              <a:gd name="adj" fmla="val 9231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6542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636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Indicative additional shrink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10328" y="4590288"/>
            <a:ext cx="2697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E636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$4.04M–$5.52M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8247888" y="2112264"/>
            <a:ext cx="3438144" cy="3154680"/>
          </a:xfrm>
          <a:prstGeom prst="roundRect">
            <a:avLst>
              <a:gd name="adj" fmla="val 3768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236829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RECORDS MAY BE WRONG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531352" y="27706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$41M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784080" y="2862072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goods receipts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8531352" y="3328416"/>
            <a:ext cx="2843784" cy="0"/>
          </a:xfrm>
          <a:prstGeom prst="line">
            <a:avLst/>
          </a:prstGeom>
          <a:noFill/>
          <a:ln w="12700">
            <a:solidFill>
              <a:srgbClr val="4462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1352" y="3547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235440" y="3502152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with unapproved inventory adjustment access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8531352" y="4233672"/>
            <a:ext cx="2843784" cy="0"/>
          </a:xfrm>
          <a:prstGeom prst="line">
            <a:avLst/>
          </a:prstGeom>
          <a:noFill/>
          <a:ln w="12700">
            <a:solidFill>
              <a:srgbClr val="4462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31352" y="447141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$3.1M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802368" y="452628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 self-approved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512064" y="5504688"/>
            <a:ext cx="11109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¹New-system period only: Mar–Aug sales. Assumes loss-prevention rates apply to those sales and comparable 0.20% was booked.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" y="58795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sensitivity, not a proven total error; prior-period losses and uncounted inventory require further testing.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INTERNAL CONTROL EVALUATION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control worth testing deeply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adjustment authorization after the March 2026 system conversion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1554480"/>
            <a:ext cx="5504688" cy="1453896"/>
          </a:xfrm>
          <a:prstGeom prst="roundRect">
            <a:avLst>
              <a:gd name="adj" fmla="val 8176"/>
            </a:avLst>
          </a:prstGeom>
          <a:solidFill>
            <a:srgbClr val="FFF0E1"/>
          </a:solidFill>
          <a:ln w="8890">
            <a:solidFill>
              <a:srgbClr val="FFF0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1554480"/>
            <a:ext cx="82296" cy="1453896"/>
          </a:xfrm>
          <a:prstGeom prst="rect">
            <a:avLst/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190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F39B5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CONTROL FAILURE SIGNAL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13232" y="2075688"/>
            <a:ext cx="49560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warehouse managers retained the ability to post inventory adjustments without independent second approval.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27064" y="1554480"/>
            <a:ext cx="5504688" cy="1453896"/>
          </a:xfrm>
          <a:prstGeom prst="roundRect">
            <a:avLst>
              <a:gd name="adj" fmla="val 8176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7064" y="1554480"/>
            <a:ext cx="82296" cy="1453896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190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EXPECTED CONTROL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446520" y="2075688"/>
            <a:ext cx="49560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limits adjustments; an independent reviewer authorizes material changes before posting.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" y="3218688"/>
            <a:ext cx="5504688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3218688"/>
            <a:ext cx="82296" cy="1453896"/>
          </a:xfrm>
          <a:prstGeom prst="rect">
            <a:avLst/>
          </a:prstGeom>
          <a:solidFill>
            <a:srgbClr val="102441"/>
          </a:solidFill>
          <a:ln w="12700">
            <a:solidFill>
              <a:srgbClr val="102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3832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HOW TO TEST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13232" y="3739896"/>
            <a:ext cx="49560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Obtain access listings and adjustment logs; select unusual / high-value entries and inspect approvals and supporting evidence.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3218688"/>
            <a:ext cx="5504688" cy="1453896"/>
          </a:xfrm>
          <a:prstGeom prst="roundRect">
            <a:avLst>
              <a:gd name="adj" fmla="val 8176"/>
            </a:avLst>
          </a:prstGeom>
          <a:solidFill>
            <a:srgbClr val="FCEEEB"/>
          </a:solidFill>
          <a:ln w="8890">
            <a:solidFill>
              <a:srgbClr val="FCEE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3218688"/>
            <a:ext cx="82296" cy="1453896"/>
          </a:xfrm>
          <a:prstGeom prst="rect">
            <a:avLst/>
          </a:prstGeom>
          <a:solidFill>
            <a:srgbClr val="BF574E"/>
          </a:solidFill>
          <a:ln w="12700">
            <a:solidFill>
              <a:srgbClr val="BF57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3832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BF57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IF THE CONTROL FAILS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446520" y="3739896"/>
            <a:ext cx="49560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substantive inventory counts and adjustment testing; assess whether the issue is a significant deficiency or material weakness.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" y="5065776"/>
            <a:ext cx="11247120" cy="886968"/>
          </a:xfrm>
          <a:prstGeom prst="roundRect">
            <a:avLst>
              <a:gd name="adj" fmla="val 13402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266944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Related override signal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0" y="521208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$3.1M ERP conversion suspense balance was cleared to COGS by a journal entry prepared and approved by the same assistant controller.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PRIORITY AUDIT RISK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Risk 03  |  Cash Card breakage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Card liability completeness / valuation  ·  revenue accuracy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1499616"/>
            <a:ext cx="3858768" cy="4498848"/>
          </a:xfrm>
          <a:prstGeom prst="roundRect">
            <a:avLst>
              <a:gd name="adj" fmla="val 3081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0136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ESTIMATE CHANGE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77240" y="2295144"/>
            <a:ext cx="3355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5%  →  8%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04672" y="2962656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Management’s assumed lifetime breakage increased in FY2026.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831336"/>
            <a:ext cx="3246120" cy="0"/>
          </a:xfrm>
          <a:prstGeom prst="line">
            <a:avLst/>
          </a:prstGeom>
          <a:noFill/>
          <a:ln w="12700">
            <a:solidFill>
              <a:srgbClr val="436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05656"/>
            <a:ext cx="3264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$6.4M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77240" y="4791456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revenue uplift in Q4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468112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review outside treasury noted.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53712" y="1499616"/>
            <a:ext cx="7178040" cy="2807208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737360"/>
            <a:ext cx="630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HISTORICAL COHORTS SHOW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809744" y="2130552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 of card value still unredeemed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2715768"/>
            <a:ext cx="941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FY2021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61304" y="2587752"/>
            <a:ext cx="4279392" cy="201168"/>
          </a:xfrm>
          <a:prstGeom prst="roundRect">
            <a:avLst>
              <a:gd name="adj" fmla="val 9091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61304" y="2587752"/>
            <a:ext cx="3380720" cy="201168"/>
          </a:xfrm>
          <a:prstGeom prst="roundRect">
            <a:avLst>
              <a:gd name="adj" fmla="val 9091"/>
            </a:avLst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1304" y="2852928"/>
            <a:ext cx="4279392" cy="201168"/>
          </a:xfrm>
          <a:prstGeom prst="roundRect">
            <a:avLst>
              <a:gd name="adj" fmla="val 9091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61304" y="2852928"/>
            <a:ext cx="1583375" cy="201168"/>
          </a:xfrm>
          <a:prstGeom prst="roundRect">
            <a:avLst>
              <a:gd name="adj" fmla="val 9091"/>
            </a:avLst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05872" y="256489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39B5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7.9%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10405872" y="2825496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3.7%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4818888" y="3328416"/>
            <a:ext cx="941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FY2022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61304" y="3200400"/>
            <a:ext cx="4279392" cy="201168"/>
          </a:xfrm>
          <a:prstGeom prst="roundRect">
            <a:avLst>
              <a:gd name="adj" fmla="val 9091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61304" y="3200400"/>
            <a:ext cx="3509101" cy="201168"/>
          </a:xfrm>
          <a:prstGeom prst="roundRect">
            <a:avLst>
              <a:gd name="adj" fmla="val 9091"/>
            </a:avLst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1304" y="3465576"/>
            <a:ext cx="4279392" cy="201168"/>
          </a:xfrm>
          <a:prstGeom prst="roundRect">
            <a:avLst>
              <a:gd name="adj" fmla="val 9091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61304" y="3465576"/>
            <a:ext cx="1754551" cy="201168"/>
          </a:xfrm>
          <a:prstGeom prst="roundRect">
            <a:avLst>
              <a:gd name="adj" fmla="val 9091"/>
            </a:avLst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05872" y="317754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39B5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8.2%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0405872" y="3438144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4.1%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4965192" y="4014216"/>
            <a:ext cx="109728" cy="109728"/>
          </a:xfrm>
          <a:prstGeom prst="ellipse">
            <a:avLst/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11496" y="3968496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583680" y="4014216"/>
            <a:ext cx="109728" cy="109728"/>
          </a:xfrm>
          <a:prstGeom prst="ellipse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7416" y="3968496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months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553712" y="4471416"/>
            <a:ext cx="7178040" cy="1517904"/>
          </a:xfrm>
          <a:prstGeom prst="roundRect">
            <a:avLst>
              <a:gd name="adj" fmla="val 7831"/>
            </a:avLst>
          </a:prstGeom>
          <a:solidFill>
            <a:srgbClr val="FFF0E1"/>
          </a:solidFill>
          <a:ln w="8890">
            <a:solidFill>
              <a:srgbClr val="FFF0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672584"/>
            <a:ext cx="6473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BF57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AUDIT TESTS &amp; CONCLUSION TRIGGER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4800600" y="4992624"/>
            <a:ext cx="64556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 card-level cohorts through later redemption periods; trace the $6.4M entry to the ledger; reconcile $141M + $412M − $397M − $8M = $148M closing liability.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4800600" y="5586984"/>
            <a:ext cx="6455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mature cohorts support materially less than 8%, evaluate a revenue reversal and liability increase. Grocery-store cards ($38M sold) lack separate redemption history.</a:t>
            </a:r>
            <a:endParaRPr lang="en-US" sz="10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AUDIT PLAN SUMMARY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evidence would change our view?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conclusions remain conditional until the audit procedures are performed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36776"/>
            <a:ext cx="1737360" cy="502920"/>
          </a:xfrm>
          <a:prstGeom prst="rect">
            <a:avLst/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PRIORITY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267712" y="1636776"/>
            <a:ext cx="2487168" cy="502920"/>
          </a:xfrm>
          <a:prstGeom prst="rect">
            <a:avLst/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755648"/>
            <a:ext cx="2304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ACCOUNT / ASSERTION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773168" y="1636776"/>
            <a:ext cx="1920240" cy="502920"/>
          </a:xfrm>
          <a:prstGeom prst="rect">
            <a:avLst/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7556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EXPOSURE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702552" y="1636776"/>
            <a:ext cx="2688336" cy="502920"/>
          </a:xfrm>
          <a:prstGeom prst="rect">
            <a:avLst/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1755648"/>
            <a:ext cx="2505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EVIDENCE TO OBTAIN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9418320" y="1636776"/>
            <a:ext cx="2267712" cy="502920"/>
          </a:xfrm>
          <a:prstGeom prst="rect">
            <a:avLst/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1755648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DECISION RULE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02920" y="2139696"/>
            <a:ext cx="11201400" cy="1133856"/>
          </a:xfrm>
          <a:prstGeom prst="rect">
            <a:avLst/>
          </a:prstGeom>
          <a:solidFill>
            <a:srgbClr val="EEF3F7"/>
          </a:solidFill>
          <a:ln w="8890">
            <a:solidFill>
              <a:srgbClr val="EEF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267712"/>
            <a:ext cx="14904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  Rebate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40280" y="2258568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267712"/>
            <a:ext cx="2240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Rebate receivable: valuation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Inventory: valuation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COGS: accuracy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4745736" y="2258568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267712"/>
            <a:ext cx="1673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$13.2M asset;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$15.4M profit*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675120" y="2258568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267712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contract / purchases; review purchase forecast; recalc inventory share.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9390888" y="2258568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2267712"/>
            <a:ext cx="2020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is supported only with reliable threshold evidence.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502920" y="3273552"/>
            <a:ext cx="11201400" cy="1133856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401568"/>
            <a:ext cx="14904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  Inventory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40280" y="3392424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401568"/>
            <a:ext cx="2240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Inventory: existence / valuation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COGS: completeness / accuracy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4745736" y="3392424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3401568"/>
            <a:ext cx="1673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$4.04M–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$5.52M†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675120" y="3392424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401568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counts; reconcile cycle counts; inspect receiving logs and adjustment approvals.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9390888" y="3392424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28048" y="3401568"/>
            <a:ext cx="2020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work if unexplained losses / access exceptions persist.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502920" y="4407408"/>
            <a:ext cx="11201400" cy="1133856"/>
          </a:xfrm>
          <a:prstGeom prst="rect">
            <a:avLst/>
          </a:prstGeom>
          <a:solidFill>
            <a:srgbClr val="EEF3F7"/>
          </a:solidFill>
          <a:ln w="8890">
            <a:solidFill>
              <a:srgbClr val="EEF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4535424"/>
            <a:ext cx="14904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  Cash Cards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240280" y="4526280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4535424"/>
            <a:ext cx="2240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Liability: completeness / valuation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Revenue: accuracy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4745736" y="4526280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4535424"/>
            <a:ext cx="1673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$6.4M Q4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uplift at risk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6675120" y="4526280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4535424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Reperform mature cohorts; test $6.4M entry; tie card activity to ledger.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9390888" y="4526280"/>
            <a:ext cx="0" cy="886968"/>
          </a:xfrm>
          <a:prstGeom prst="line">
            <a:avLst/>
          </a:prstGeom>
          <a:noFill/>
          <a:ln w="8890">
            <a:solidFill>
              <a:srgbClr val="DCE5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28048" y="4535424"/>
            <a:ext cx="2020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breakage if card-level evidence does not support 8%.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502920" y="5779008"/>
            <a:ext cx="11201400" cy="429768"/>
          </a:xfrm>
          <a:prstGeom prst="roundRect">
            <a:avLst>
              <a:gd name="adj" fmla="val 21277"/>
            </a:avLst>
          </a:prstGeom>
          <a:solidFill>
            <a:srgbClr val="FFF0E1"/>
          </a:solidFill>
          <a:ln w="8890">
            <a:solidFill>
              <a:srgbClr val="FFF0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843016"/>
            <a:ext cx="1089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B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Fraud risk factor: earnings-sensitive estimates / potential management override. These indicators do not establish fraudulent conduct.</a:t>
            </a:r>
            <a:endParaRPr lang="en-US" sz="1320" dirty="0"/>
          </a:p>
        </p:txBody>
      </p:sp>
      <p:sp>
        <p:nvSpPr>
          <p:cNvPr id="52" name="Text 50"/>
          <p:cNvSpPr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*Assumes only the 2% tier is justified and 25% of rebate-related purchases remain unsold.  †Sales-window sensitivity, not a proven year-end misstatement.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RESOURCE ALLOCATION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Direct limited audit hours to uncertainty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risk-based plan is about selective effort, not ignoring other accounts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1572768"/>
            <a:ext cx="3602736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6420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6,200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8368" y="2048256"/>
            <a:ext cx="3273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FY2026 audit hours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297680" y="1572768"/>
            <a:ext cx="3602736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66420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5,900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462272" y="2048256"/>
            <a:ext cx="3273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FY2025 hours used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01584" y="1572768"/>
            <a:ext cx="3602736" cy="822960"/>
          </a:xfrm>
          <a:prstGeom prst="roundRect">
            <a:avLst>
              <a:gd name="adj" fmla="val 14444"/>
            </a:avLst>
          </a:prstGeom>
          <a:solidFill>
            <a:srgbClr val="DDF4F1"/>
          </a:solidFill>
          <a:ln w="8890">
            <a:solidFill>
              <a:srgbClr val="DDF4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66420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636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+300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266176" y="2048256"/>
            <a:ext cx="3273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incremental hours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93776" y="2606040"/>
            <a:ext cx="6766560" cy="3429000"/>
          </a:xfrm>
          <a:prstGeom prst="roundRect">
            <a:avLst>
              <a:gd name="adj" fmla="val 3467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880360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PROPOSED USE OF 300 INCREMENTAL HOURS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04672" y="3401568"/>
            <a:ext cx="5422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/ ERP and control testing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3721608"/>
            <a:ext cx="5065776" cy="146304"/>
          </a:xfrm>
          <a:prstGeom prst="roundRect">
            <a:avLst>
              <a:gd name="adj" fmla="val 25000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3721608"/>
            <a:ext cx="4728058" cy="146304"/>
          </a:xfrm>
          <a:prstGeom prst="roundRect">
            <a:avLst>
              <a:gd name="adj" fmla="val 25000"/>
            </a:avLst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3602736"/>
            <a:ext cx="786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140h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4160520"/>
            <a:ext cx="5422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rebate estimation and allocation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" y="4480560"/>
            <a:ext cx="5065776" cy="146304"/>
          </a:xfrm>
          <a:prstGeom prst="roundRect">
            <a:avLst>
              <a:gd name="adj" fmla="val 25000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4480560"/>
            <a:ext cx="3377184" cy="146304"/>
          </a:xfrm>
          <a:prstGeom prst="roundRect">
            <a:avLst>
              <a:gd name="adj" fmla="val 25000"/>
            </a:avLst>
          </a:prstGeom>
          <a:solidFill>
            <a:srgbClr val="F39B52"/>
          </a:solidFill>
          <a:ln w="12700">
            <a:solidFill>
              <a:srgbClr val="F39B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4361688"/>
            <a:ext cx="786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100h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672" y="4919472"/>
            <a:ext cx="5422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Card lifetime breakage analysis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" y="5239512"/>
            <a:ext cx="5065776" cy="146304"/>
          </a:xfrm>
          <a:prstGeom prst="roundRect">
            <a:avLst>
              <a:gd name="adj" fmla="val 25000"/>
            </a:avLst>
          </a:prstGeom>
          <a:solidFill>
            <a:srgbClr val="EAF0F5"/>
          </a:solidFill>
          <a:ln w="8890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239512"/>
            <a:ext cx="2026310" cy="146304"/>
          </a:xfrm>
          <a:prstGeom prst="roundRect">
            <a:avLst>
              <a:gd name="adj" fmla="val 25000"/>
            </a:avLst>
          </a:prstGeom>
          <a:solidFill>
            <a:srgbClr val="BF574E"/>
          </a:solidFill>
          <a:ln w="12700">
            <a:solidFill>
              <a:srgbClr val="BF57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5120640"/>
            <a:ext cx="786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60h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5528" y="5577840"/>
            <a:ext cx="6199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 is illustrative; the remaining audit hours still cover the full engagement.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79792" y="2606040"/>
            <a:ext cx="4206240" cy="3429000"/>
          </a:xfrm>
          <a:prstGeom prst="roundRect">
            <a:avLst>
              <a:gd name="adj" fmla="val 3467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0688" y="2889504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65C6C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RELATIVELY LOWER FOCUS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7772400" y="329184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Property, Plant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&amp; Equipment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781544" y="4407408"/>
            <a:ext cx="35844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C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$140M of new warehouse construction was capitalized using a process tested last year without exceptions.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81544" y="5376672"/>
            <a:ext cx="3575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test invoices, capitalization, cutoff and depreciation; reduce incremental effort, not basic audit coverage.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7F83"/>
          </a:solidFill>
          <a:ln w="12700">
            <a:solidFill>
              <a:srgbClr val="14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CONCLUSION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475488" y="60350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Our recommendation: follow the evidence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focused priorities for fieldwork beginning in two weeks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484632" y="6492240"/>
            <a:ext cx="11237976" cy="0"/>
          </a:xfrm>
          <a:prstGeom prst="line">
            <a:avLst/>
          </a:prstGeom>
          <a:noFill/>
          <a:ln w="10160">
            <a:solidFill>
              <a:srgbClr val="DC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65379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WSU  /  Beta Alpha Psi  /  October 2026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662672" y="6537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290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EDUCATIONAL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18488"/>
            <a:ext cx="11192256" cy="1106424"/>
          </a:xfrm>
          <a:prstGeom prst="roundRect">
            <a:avLst>
              <a:gd name="adj" fmla="val 107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1828800"/>
            <a:ext cx="621792" cy="630936"/>
          </a:xfrm>
          <a:prstGeom prst="roundRect">
            <a:avLst>
              <a:gd name="adj" fmla="val 17647"/>
            </a:avLst>
          </a:prstGeom>
          <a:solidFill>
            <a:srgbClr val="FFF0E1"/>
          </a:solidFill>
          <a:ln w="12700">
            <a:solidFill>
              <a:srgbClr val="FFF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993392"/>
            <a:ext cx="374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9B5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9344" y="1792224"/>
            <a:ext cx="9555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Challenge management estimates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27632" y="2185416"/>
            <a:ext cx="9619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Reassess the 5% rebate assumption and 8% Cash Card breakage rate using independent evidence.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935224"/>
            <a:ext cx="11192256" cy="1106424"/>
          </a:xfrm>
          <a:prstGeom prst="roundRect">
            <a:avLst>
              <a:gd name="adj" fmla="val 107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" y="3145536"/>
            <a:ext cx="621792" cy="630936"/>
          </a:xfrm>
          <a:prstGeom prst="roundRect">
            <a:avLst>
              <a:gd name="adj" fmla="val 17647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310128"/>
            <a:ext cx="374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7F8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9344" y="3108960"/>
            <a:ext cx="9555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Verify inventory integrity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27632" y="3502152"/>
            <a:ext cx="9619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post-conversion counts, inspect manual receipts, test adjustments and access permissions.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502920" y="4251960"/>
            <a:ext cx="11192256" cy="1106424"/>
          </a:xfrm>
          <a:prstGeom prst="roundRect">
            <a:avLst>
              <a:gd name="adj" fmla="val 10744"/>
            </a:avLst>
          </a:prstGeom>
          <a:solidFill>
            <a:srgbClr val="FFFFFF"/>
          </a:solidFill>
          <a:ln w="8890">
            <a:solidFill>
              <a:srgbClr val="DCE5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" y="4462272"/>
            <a:ext cx="621792" cy="630936"/>
          </a:xfrm>
          <a:prstGeom prst="roundRect">
            <a:avLst>
              <a:gd name="adj" fmla="val 17647"/>
            </a:avLst>
          </a:prstGeom>
          <a:solidFill>
            <a:srgbClr val="FCEEEB"/>
          </a:solidFill>
          <a:ln w="12700">
            <a:solidFill>
              <a:srgbClr val="FCEE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626864"/>
            <a:ext cx="374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F57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9344" y="4425696"/>
            <a:ext cx="9555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4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Correct only supported errors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627632" y="4818888"/>
            <a:ext cx="9619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666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results with $12M performance and $16M overall materiality; aggregate identified misstatements.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512064" y="5678424"/>
            <a:ext cx="11173968" cy="566928"/>
          </a:xfrm>
          <a:prstGeom prst="roundRect">
            <a:avLst>
              <a:gd name="adj" fmla="val 20968"/>
            </a:avLst>
          </a:prstGeom>
          <a:solidFill>
            <a:srgbClr val="102441"/>
          </a:solidFill>
          <a:ln w="8890">
            <a:solidFill>
              <a:srgbClr val="1024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815584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Bottom line: estimated exposures warrant scrutiny — but the audit must distinguish uncertainty from a confirmed misstatement.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Washington State University | Beta Alpha Psi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Cascade Warehouse Club | FY2026 Audit Risk Assessment</dc:title>
  <dc:subject>Risk-based FY2026 audit plan for fictional Cascade Warehouse Club</dc:subject>
  <dc:creator>Case Competition Team: Adnan Ahmed, Dorji Damdul, Isaac Hernandez</dc:creator>
  <cp:lastModifiedBy>Case Competition Team: Adnan Ahmed, Dorji Damdul, Isaac Hernandez</cp:lastModifiedBy>
  <cp:revision>1</cp:revision>
  <dcterms:created xsi:type="dcterms:W3CDTF">2026-10-12T23:37:25Z</dcterms:created>
  <dcterms:modified xsi:type="dcterms:W3CDTF">2026-10-12T23:37:25Z</dcterms:modified>
</cp:coreProperties>
</file>